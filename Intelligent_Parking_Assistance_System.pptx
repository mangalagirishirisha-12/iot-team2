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04672"/>
            <a:ext cx="822960" cy="36576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9AA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303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PARKING ASSISTANCE SYSTEM USING ARM CORTEX-M3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Distance Detection and Automated Parking Barrier Control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28600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Mangalagiri Shirisha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2510080017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Keerthi Varna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2510080023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Shravika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2510080036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Praneeth Reddy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2510080051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 Reddy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2510080062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657600"/>
            <a:ext cx="53035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University: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[Department, University]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[Faculty Mentor]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[Academic Year]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0" y="457200"/>
            <a:ext cx="292608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731520"/>
            <a:ext cx="1280160" cy="822960"/>
          </a:xfrm>
          <a:prstGeom prst="roundRect">
            <a:avLst>
              <a:gd name="adj" fmla="val 7778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03720" y="594360"/>
            <a:ext cx="0" cy="13716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6903720" y="1554480"/>
            <a:ext cx="0" cy="13716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7223760" y="594360"/>
            <a:ext cx="0" cy="13716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7223760" y="1554480"/>
            <a:ext cx="0" cy="13716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7543800" y="594360"/>
            <a:ext cx="0" cy="13716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7543800" y="1554480"/>
            <a:ext cx="0" cy="13716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7863840" y="594360"/>
            <a:ext cx="0" cy="13716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7863840" y="1554480"/>
            <a:ext cx="0" cy="13716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7406640" y="1691640"/>
            <a:ext cx="0" cy="96012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6949440" y="265176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412480" y="2834640"/>
            <a:ext cx="228600" cy="1280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4160520"/>
            <a:ext cx="1005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26480" y="3474720"/>
            <a:ext cx="1463040" cy="411480"/>
          </a:xfrm>
          <a:prstGeom prst="roundRect">
            <a:avLst>
              <a:gd name="adj" fmla="val 15556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3108960"/>
            <a:ext cx="868680" cy="365760"/>
          </a:xfrm>
          <a:prstGeom prst="roundRect">
            <a:avLst>
              <a:gd name="adj" fmla="val 175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571232" y="3611880"/>
            <a:ext cx="128016" cy="182880"/>
          </a:xfrm>
          <a:prstGeom prst="roundRect">
            <a:avLst>
              <a:gd name="adj" fmla="val 50000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3749040"/>
            <a:ext cx="274320" cy="2743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0" y="3749040"/>
            <a:ext cx="274320" cy="2743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26680" y="3703320"/>
            <a:ext cx="64008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dash"/>
            <a:tailEnd type="triangle"/>
          </a:ln>
        </p:spPr>
      </p:sp>
      <p:sp>
        <p:nvSpPr>
          <p:cNvPr id="26" name="Shape 23"/>
          <p:cNvSpPr/>
          <p:nvPr/>
        </p:nvSpPr>
        <p:spPr>
          <a:xfrm flipH="1">
            <a:off x="7726680" y="3840480"/>
            <a:ext cx="640080" cy="0"/>
          </a:xfrm>
          <a:prstGeom prst="line">
            <a:avLst/>
          </a:prstGeom>
          <a:noFill/>
          <a:ln w="19050">
            <a:solidFill>
              <a:srgbClr val="E8832A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035040" y="4114800"/>
            <a:ext cx="2743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none"/>
          </a:ln>
        </p:spPr>
      </p:sp>
      <p:sp>
        <p:nvSpPr>
          <p:cNvPr id="28" name="Text 25"/>
          <p:cNvSpPr txBox="1"/>
          <p:nvPr/>
        </p:nvSpPr>
        <p:spPr>
          <a:xfrm>
            <a:off x="7772400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26480" y="1828800"/>
            <a:ext cx="182880" cy="18288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55080" y="1828800"/>
            <a:ext cx="182880" cy="1828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83680" y="1828800"/>
            <a:ext cx="182880" cy="18288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8076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guidance LEDs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and Project Overview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2062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an embedded parking assistant built on an ARM Cortex-M3 microcontroller. An HC-SR04 ultrasonic sensor measures the distance to an obstacle using timer-based echo pulse measurement, while an IR sensor detects vehicle presence. Red, yellow and green LEDs give visual guidance, a PWM-driven DC motor and a relay simulate the parking barrier and gate, a push button provides interrupt-based user control, and UART reports distance and status to a serial monitor.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00584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distance measurement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50876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presence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parking guidance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barrier simulation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01752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monitoring and user control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· IR · Button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4023360"/>
            <a:ext cx="5486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383280" y="3611880"/>
            <a:ext cx="2560320" cy="822960"/>
          </a:xfrm>
          <a:prstGeom prst="roundRect">
            <a:avLst>
              <a:gd name="adj" fmla="val 7778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· Timer · PWM · NVIC · UART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4023360"/>
            <a:ext cx="5486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92240" y="361188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· Motor · Relay · UART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Motivation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17373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24231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Confined spaces make it hard for drivers to judge the distance to walls or vehicles. Manual control of parking access is also slow and inconsistent.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05840"/>
            <a:ext cx="64008" cy="1737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389888"/>
            <a:ext cx="24231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sensors with a microcontroller can give timely distance warnings and show how automatic gate control works.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7432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05840"/>
            <a:ext cx="64008" cy="17373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389888"/>
            <a:ext cx="25146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distance with ultrasound, detect vehicles with IR, warn with LEDs, and actuate a barrier with PWM and a relay.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Prototype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Safety-Certified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HC-SR04 and IR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Redundant, weather-robust sensors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DC motor and relay demo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actuator with safety interlocks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demonstration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Certified, fail-safe, tested to standards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" y="4526280"/>
            <a:ext cx="8321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prototype is for learning and demonstration only and must not be relied on for real vehicle safety.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ultrasonic sensing using GPIO trigger control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097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463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echo pulse width using a hardware timer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463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obstacle distance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6560" y="1005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097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463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vehicle presence using an IR sensor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40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606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red, yellow and green LEDs by distance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2148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240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2606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timer-based PWM for a DC motor barrier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148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40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606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 relay to represent the parking gate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0" y="2148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240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2606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push button as an external interrupt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383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749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suitable NVIC interrupt priorities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3291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383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651760" y="3749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distance and status through UART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291840"/>
            <a:ext cx="1965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38328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754880" y="3749040"/>
            <a:ext cx="17830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Cortex-M3 memory map and peripheral registers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Block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Vehicle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960120"/>
            <a:ext cx="2377440" cy="33375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987552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Cortex-M3 MCU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137160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938528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/ Input Capture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505456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Timer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3072384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 + EXTI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3639312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flipH="1">
            <a:off x="2377440" y="1188720"/>
            <a:ext cx="1005840" cy="0"/>
          </a:xfrm>
          <a:prstGeom prst="line">
            <a:avLst/>
          </a:prstGeom>
          <a:noFill/>
          <a:ln w="19050">
            <a:solidFill>
              <a:srgbClr val="E8832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423160" y="96012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77440" y="1600200"/>
            <a:ext cx="100584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42316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77440" y="2468880"/>
            <a:ext cx="100584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377440" y="2240280"/>
            <a:ext cx="1005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OUT (digital)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3383280"/>
            <a:ext cx="100584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377440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 line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0" y="105156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Yellow / Green LEDs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0" y="1371600"/>
            <a:ext cx="10058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806440" y="1124712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0" y="192024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 + DC Motor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(barrier)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2240280"/>
            <a:ext cx="10058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806440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66560" y="278892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(parking gate)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0" y="3108960"/>
            <a:ext cx="10058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806440" y="2862072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0" y="365760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USB-UART Adapter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0" y="3977640"/>
            <a:ext cx="10058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806440" y="3730752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868680"/>
            <a:ext cx="91440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 and Their Functions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Interfacing Consideration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Cortex-M3 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 running all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Cortex-M3 board; 3.3 V logic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ultrasonic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distance via echo pulse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5 V; divide ECHO to 3.3 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obstacle sensor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vehicle presence (digital)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output level; tune sensitivity pot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LEDs + resistors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Red/yellow/green parking guidance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330 Ω each to limit 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 + driver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Simulates parking barrier arm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required; flyback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parking gate switching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Driver/opto input; separate load supply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button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interrupt user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Pull-up/down resistor; debounce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 MCU, sensors and motor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motor supply; common 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USB-to-UART adapter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link to PC terminal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TX/RX; match 3.3 V levels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Circuit Diagram and Wiring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566160" y="914400"/>
            <a:ext cx="2011680" cy="3429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566160" y="932688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Cortex-M3 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(example GPIO labels)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 5V · GND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flipH="1">
            <a:off x="2194560" y="1188720"/>
            <a:ext cx="1371600" cy="0"/>
          </a:xfrm>
          <a:prstGeom prst="line">
            <a:avLst/>
          </a:prstGeom>
          <a:noFill/>
          <a:ln w="19050">
            <a:solidFill>
              <a:srgbClr val="E8832A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194560" y="96012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← PA0 (out)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1508760"/>
            <a:ext cx="137160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194560" y="1527048"/>
            <a:ext cx="1371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→ PA1 (TIMx_CH) via divider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 · GND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377440"/>
            <a:ext cx="137160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194560" y="2130552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→ PA2 (GPIO in)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9718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GND, pull-up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3291840"/>
            <a:ext cx="137160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194560" y="3044952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PB0 (EXTI0), active low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5 V / 3.3 V logic supply,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motor supply,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GND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914400"/>
            <a:ext cx="2377440" cy="731520"/>
          </a:xfrm>
          <a:prstGeom prst="roundRect">
            <a:avLst>
              <a:gd name="adj" fmla="val 8750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Y / G LEDs + 330 Ω each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051560"/>
            <a:ext cx="822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623560" y="868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577840" y="1280160"/>
            <a:ext cx="822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623560" y="1097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PB6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577840" y="1508760"/>
            <a:ext cx="822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623560" y="132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PB7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00800" y="187452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187452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2212848"/>
            <a:ext cx="3657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77840" y="2212848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57784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PA6 PWM (TIMx_CHy)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00800" y="278892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(parking gate)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3108960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577840" y="2880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PB8 GPIO out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0" y="365760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USB-UART Adapter → PC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3977640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577840" y="37307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PA9 UART TX → RX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4462272"/>
            <a:ext cx="8321040" cy="457200"/>
          </a:xfrm>
          <a:prstGeom prst="rect">
            <a:avLst/>
          </a:prstGeom>
          <a:solidFill>
            <a:srgbClr val="FFF4E5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pins are examples only; final pins depend on the selected MCU board. Never drive a motor or relay coil from a GPIO. HC-SR04 ECHO is 5 V, so use a divider or level shifter. Use flyback protection and a common ground.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 / Program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clock, GPIO, timer, NVIC, UART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27432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560320" y="109728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10 µs pulse on TRIG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8412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27432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663440" y="109728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ECHO rising and falling edges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8412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554480"/>
            <a:ext cx="27432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766560" y="109728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distance from pulse width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8412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265176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IR sensor for vehicle presence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395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>
            <a:off x="6492240" y="3108960"/>
            <a:ext cx="27432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663440" y="265176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R/Y/G LED by distance zone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395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4389120" y="3108960"/>
            <a:ext cx="27432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560320" y="265176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barrier: PWM motor and relay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2395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2286000" y="3108960"/>
            <a:ext cx="27432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57200" y="265176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status over UART, then repeat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395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2011680"/>
            <a:ext cx="0" cy="32004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 flipH="1">
            <a:off x="1371600" y="2331720"/>
            <a:ext cx="640080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371600" y="2331720"/>
            <a:ext cx="0" cy="32004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" y="3840480"/>
            <a:ext cx="832104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840480"/>
            <a:ext cx="8138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interrupt (parallel):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the button triggers an ISR that sets a flag for manual override or gate lock; the main loop reads the flag and acts.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Distance Measurement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diagram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3891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48640" y="3200400"/>
            <a:ext cx="43891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1600200"/>
            <a:ext cx="320040" cy="32004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280160"/>
            <a:ext cx="731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µs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2834640"/>
            <a:ext cx="2011680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pulse width 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capture: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edge = start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edge = stop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645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ultrasonic bursts sent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960120"/>
            <a:ext cx="347472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960120"/>
            <a:ext cx="64008" cy="1143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1344168"/>
            <a:ext cx="3246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(t × v) / 2,  v ≈ 343 m/s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(cm) ≈ t (µs) / 58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2240280"/>
            <a:ext cx="34747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2240280"/>
            <a:ext cx="64008" cy="109728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624328"/>
            <a:ext cx="3246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1160 µs  →  d ≈ 20 cm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2: sound travels out and back.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03520" y="3474720"/>
            <a:ext cx="34747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3474720"/>
            <a:ext cx="64008" cy="1188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set-up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858768"/>
            <a:ext cx="3246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Prescale to a 1 µs tick, use input capture on both edges, and add a timeout if no echo returns.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Zones and LED Indication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thresholds (tunable in firmware)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291840" cy="914400"/>
          </a:xfrm>
          <a:prstGeom prst="roundRect">
            <a:avLst>
              <a:gd name="adj" fmla="val 7000"/>
            </a:avLst>
          </a:prstGeom>
          <a:solidFill>
            <a:srgbClr val="2E9E5B"/>
          </a:solidFill>
          <a:ln w="12700">
            <a:solidFill>
              <a:srgbClr val="2E9E5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 cm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9040" y="1371600"/>
            <a:ext cx="2560320" cy="914400"/>
          </a:xfrm>
          <a:prstGeom prst="roundRect">
            <a:avLst>
              <a:gd name="adj" fmla="val 7000"/>
            </a:avLst>
          </a:prstGeom>
          <a:solidFill>
            <a:srgbClr val="F2B705"/>
          </a:solidFill>
          <a:ln w="12700">
            <a:solidFill>
              <a:srgbClr val="F2B70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30 cm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cm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obstacle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obstacle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310896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slowly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to stop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immediately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LED is on at a time; each LED uses its own resistor and GPIO pin.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Control: PWM Motor and Relay Gate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duty cycle controls motor speed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474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276606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508760"/>
            <a:ext cx="276606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508760"/>
            <a:ext cx="276606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3474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22960" y="2286000"/>
            <a:ext cx="553212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2286000"/>
            <a:ext cx="553212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2286000"/>
            <a:ext cx="553212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429000"/>
            <a:ext cx="3474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22960" y="3063240"/>
            <a:ext cx="829818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3063240"/>
            <a:ext cx="829818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3063240"/>
            <a:ext cx="829818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 sits between MCU and motor; MCU only supplies the PWM signal.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0584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097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(PWM)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(Gate)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detected by 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 up: barrier opens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clear + delay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Reverse: barrier closes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De-energised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 zone (red)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/ stop motor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Button: manual lock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Stop; ignore 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754880" y="3886200"/>
            <a:ext cx="4023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modules are often active-low; confirm in the module datasheet.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Interrupt and NVIC Priorities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press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554480" y="1536192"/>
            <a:ext cx="0" cy="18288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457200" y="1719072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 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(falling edge)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2249424"/>
            <a:ext cx="0" cy="18288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57200" y="2432304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(priority check)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2962656"/>
            <a:ext cx="0" cy="18288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57200" y="3145536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sets flag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3675888"/>
            <a:ext cx="0" cy="18288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 acts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100584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 input capture (ECHO)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(highest)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Timing-critical edge capture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button EXTI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user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(lowest)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time-critical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017520" y="3017520"/>
            <a:ext cx="576072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17520" y="3017520"/>
            <a:ext cx="64008" cy="1554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54680" y="3063240"/>
            <a:ext cx="5577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154680" y="3401568"/>
            <a:ext cx="5532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 Cortex-M3, a lower number means higher priority.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Higher-priority interrupts can pre-empt lower ones.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ISRs short; debounce the button; clear flags.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Priorities are set with NVIC registers (e.g. NVIC_SetPriority).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Serial Communication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0" y="1508760"/>
            <a:ext cx="6400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926080" y="109728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USB-UART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508760"/>
            <a:ext cx="6400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394960" y="109728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Serial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settings: 9600 baud, 8 data bits, no parity, 1 stop bit (8N1)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1206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4937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DIST=45 cm | IR=0 | LED=GREEN  | GATE=CLOSED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DIST=22 cm | IR=0 | LED=YELLOW | GATE=CLOSED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DIST=12 cm | IR=1 | LED=RED    | GATE=OPEN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format (illustrative, not measured data)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514600"/>
            <a:ext cx="292608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514600"/>
            <a:ext cx="64008" cy="17830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Notes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898648"/>
            <a:ext cx="26974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TX to RX and RX to TX. Share a common ground. Match the 3.3 V logic level of the board.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Cortex-M3 Memory Map and Peripheral Registers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2377440" cy="420624"/>
          </a:xfrm>
          <a:prstGeom prst="roundRect">
            <a:avLst>
              <a:gd name="adj" fmla="val 15217"/>
            </a:avLst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0xE010_0000 – 0xFFFF_FFFF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960120"/>
            <a:ext cx="26517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2377440" cy="420624"/>
          </a:xfrm>
          <a:prstGeom prst="roundRect">
            <a:avLst>
              <a:gd name="adj" fmla="val 15217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0xE000_0000 – 0xE00F_FFFF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444752"/>
            <a:ext cx="26517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peripheral bus: NVIC, SysTick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29384"/>
            <a:ext cx="2377440" cy="420624"/>
          </a:xfrm>
          <a:prstGeom prst="roundRect">
            <a:avLst>
              <a:gd name="adj" fmla="val 15217"/>
            </a:avLst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0xA000_0000 – 0xDFFF_FFFF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929384"/>
            <a:ext cx="26517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2377440" cy="420624"/>
          </a:xfrm>
          <a:prstGeom prst="roundRect">
            <a:avLst>
              <a:gd name="adj" fmla="val 15217"/>
            </a:avLst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0x6000_0000 – 0x9FFF_FFFF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414016"/>
            <a:ext cx="26517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98648"/>
            <a:ext cx="2377440" cy="420624"/>
          </a:xfrm>
          <a:prstGeom prst="roundRect">
            <a:avLst>
              <a:gd name="adj" fmla="val 15217"/>
            </a:avLst>
          </a:prstGeom>
          <a:solidFill>
            <a:srgbClr val="0E9AA7"/>
          </a:solidFill>
          <a:ln w="12700">
            <a:solidFill>
              <a:srgbClr val="0E9AA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0x4000_0000 – 0x5FFF_FFFF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898648"/>
            <a:ext cx="26517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Peripherals: GPIO, TIMx, UART, EXTI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2377440" cy="420624"/>
          </a:xfrm>
          <a:prstGeom prst="roundRect">
            <a:avLst>
              <a:gd name="adj" fmla="val 15217"/>
            </a:avLst>
          </a:prstGeom>
          <a:solidFill>
            <a:srgbClr val="E8832A"/>
          </a:solidFill>
          <a:ln w="12700">
            <a:solidFill>
              <a:srgbClr val="E8832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0x2000_0000 – 0x3FFF_FFFF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383280"/>
            <a:ext cx="26517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SRAM: stack and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867912"/>
            <a:ext cx="2377440" cy="420624"/>
          </a:xfrm>
          <a:prstGeom prst="roundRect">
            <a:avLst>
              <a:gd name="adj" fmla="val 15217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0x0000_0000 – 0x1FFF_FFFF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867912"/>
            <a:ext cx="26517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Flash, vector table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960120"/>
            <a:ext cx="292608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960120"/>
            <a:ext cx="64008" cy="1600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Access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1344168"/>
            <a:ext cx="26974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registers are memory-mapped: base address + offset, accessed through volatile pointers.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2697480"/>
            <a:ext cx="29260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697480"/>
            <a:ext cx="64008" cy="1645920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Bit-Banding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3081528"/>
            <a:ext cx="26974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alias at 0x2200_0000 and peripheral alias at 0x4200_0000 give atomic single-bit access.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peripheral base addresses depend on the MCU vendor.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 and 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246888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24231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combines ultrasonic ranging, IR detection, PWM, relay control, interrupts and UART on a Cortex-M3, covering core embedded concepts in one project.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05840"/>
            <a:ext cx="64008" cy="246888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389888"/>
            <a:ext cx="24231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sensor, limited range and angle, example thresholds, and a demonstration barrier that is not safety certified.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74320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05840"/>
            <a:ext cx="64008" cy="24688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389888"/>
            <a:ext cx="2514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sensors, filtering, LCD or buzzer alerts, RTOS scheduling, wireless monitoring and automatic number plate recognition.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321040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49040"/>
            <a:ext cx="8321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24528"/>
            <a:ext cx="8321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Shirisha · Keerthi Varna · Shravika · Praneeth Reddy · Arun Reddy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Parking Assistance System using ARM Cortex-M3</dc:title>
  <dc:subject>PptxGenJS Presentation</dc:subject>
  <dc:creator>PptxGenJS</dc:creator>
  <cp:lastModifiedBy>PptxGenJS</cp:lastModifiedBy>
  <cp:revision>1</cp:revision>
  <dcterms:created xsi:type="dcterms:W3CDTF">2026-10-13T15:46:29Z</dcterms:created>
  <dcterms:modified xsi:type="dcterms:W3CDTF">2026-10-13T15:46:29Z</dcterms:modified>
</cp:coreProperties>
</file>